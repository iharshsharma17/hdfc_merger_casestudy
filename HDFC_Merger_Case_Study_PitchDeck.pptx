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HDFC Ltd &amp; HDFC Bank Merger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Banking Case Study | Harsh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Merger Announced: April 2022</a:t>
            </a:r>
          </a:p>
          <a:p>
            <a:r>
              <a:t>• Value: ~$40 Billion</a:t>
            </a:r>
          </a:p>
          <a:p>
            <a:r>
              <a:t>• Type: All-stock deal</a:t>
            </a:r>
          </a:p>
          <a:p>
            <a:r>
              <a:t>• Purpose: Synergy between lending (HDFC Ltd) and banking (HDFC Bank)</a:t>
            </a:r>
          </a:p>
          <a:p>
            <a:r>
              <a:t>• Expected Completion: Q2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Rationale Behind the Merger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Access to wider customer base</a:t>
            </a:r>
          </a:p>
          <a:p>
            <a:r>
              <a:t>• Better cross-selling of financial products</a:t>
            </a:r>
          </a:p>
          <a:p>
            <a:r>
              <a:t>• Improved balance sheet strength</a:t>
            </a:r>
          </a:p>
          <a:p>
            <a:r>
              <a:t>• Economies of scale and operational efficiency</a:t>
            </a:r>
          </a:p>
          <a:p>
            <a:r>
              <a:t>• Unified digital and branch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Estimated Synergies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Synergies:</a:t>
            </a:r>
          </a:p>
          <a:p>
            <a:r>
              <a:t>  - Cross-selling to mutual customer base</a:t>
            </a:r>
          </a:p>
          <a:p>
            <a:r>
              <a:t>  - New lending opportunities</a:t>
            </a:r>
          </a:p>
          <a:p/>
          <a:p>
            <a:r>
              <a:t>• Cost Synergies:</a:t>
            </a:r>
          </a:p>
          <a:p>
            <a:r>
              <a:t>  - Reduced overlapping operations</a:t>
            </a:r>
          </a:p>
          <a:p>
            <a:r>
              <a:t>  - Shared technology and compliance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Valuation Metrics (Pre-Merger)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HDFC Ltd:</a:t>
            </a:r>
          </a:p>
          <a:p>
            <a:r>
              <a:t>  - Market Cap: ₹4.4 Lakh Crore</a:t>
            </a:r>
          </a:p>
          <a:p>
            <a:r>
              <a:t>  - P/E: 20x | P/B: 3.5x</a:t>
            </a:r>
          </a:p>
          <a:p/>
          <a:p>
            <a:r>
              <a:t>• HDFC Bank:</a:t>
            </a:r>
          </a:p>
          <a:p>
            <a:r>
              <a:t>  - Market Cap: ₹8.5 Lakh Crore</a:t>
            </a:r>
          </a:p>
          <a:p>
            <a:r>
              <a:t>  - P/E: 22x | P/B: 4.1x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Reaction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Stock market responded positively</a:t>
            </a:r>
          </a:p>
          <a:p>
            <a:r>
              <a:t>• Major boost to BFSI sector confidence</a:t>
            </a:r>
          </a:p>
          <a:p>
            <a:r>
              <a:t>• Merger seen as a strategic long-term move</a:t>
            </a:r>
          </a:p>
          <a:p>
            <a:r>
              <a:t>• Created one of India’s largest financial giants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